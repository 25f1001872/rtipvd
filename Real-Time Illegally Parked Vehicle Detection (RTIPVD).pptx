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9"/>
  </p:notesMasterIdLst>
  <p:sldIdLst>
    <p:sldId id="262" r:id="rId2"/>
    <p:sldId id="271" r:id="rId3"/>
    <p:sldId id="272" r:id="rId4"/>
    <p:sldId id="276" r:id="rId5"/>
    <p:sldId id="274" r:id="rId6"/>
    <p:sldId id="273" r:id="rId7"/>
    <p:sldId id="266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3E731E-F63F-AE42-4D7D-329730FE06D0}" v="1053" dt="2026-04-24T19:46:20.423"/>
    <p1510:client id="{B5850E22-93E6-6669-7D1E-50DD66DFF08C}" v="599" dt="2026-04-24T19:16:40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5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3" y="1173984"/>
            <a:ext cx="8768137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5166"/>
            <a:ext cx="424212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13043"/>
            <a:ext cx="424212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3" y="2971801"/>
            <a:ext cx="2452687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/>
              <a:t>Thanks…</a:t>
            </a:r>
            <a:endParaRPr lang="en-IN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4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1069520" y="1678305"/>
            <a:ext cx="7247166" cy="1122566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i="1"/>
              <a:t>Real-Time Illegally Parked Vehicle Detection (RTIPVD)</a:t>
            </a:r>
            <a:endParaRPr lang="en-IN"/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3224241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IN" i="1"/>
              <a:t>Final Evaluation</a:t>
            </a: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3647611"/>
            <a:ext cx="7247166" cy="412932"/>
          </a:xfrm>
        </p:spPr>
        <p:txBody>
          <a:bodyPr anchor="b"/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l"/>
            <a:r>
              <a:rPr lang="en-US" sz="2000" b="1">
                <a:ea typeface="Calibri"/>
                <a:cs typeface="Calibri"/>
              </a:rPr>
              <a:t>Team members :</a:t>
            </a:r>
            <a:r>
              <a:rPr lang="en-US" b="1">
                <a:ea typeface="Calibri"/>
                <a:cs typeface="Calibri"/>
              </a:rPr>
              <a:t>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272E9-22CF-5D52-D8F4-FE1023C23D07}"/>
              </a:ext>
            </a:extLst>
          </p:cNvPr>
          <p:cNvSpPr txBox="1">
            <a:spLocks/>
          </p:cNvSpPr>
          <p:nvPr/>
        </p:nvSpPr>
        <p:spPr bwMode="auto">
          <a:xfrm>
            <a:off x="1075783" y="4541133"/>
            <a:ext cx="7247166" cy="103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>
                <a:ea typeface="Calibri"/>
                <a:cs typeface="Calibri"/>
              </a:rPr>
              <a:t>Himanshu                                 Harshit Singh                         K. Shubham </a:t>
            </a:r>
            <a:br>
              <a:rPr lang="en-US" sz="2000">
                <a:ea typeface="Calibri"/>
                <a:cs typeface="Calibri"/>
              </a:rPr>
            </a:br>
            <a:r>
              <a:rPr lang="en-US" sz="2000">
                <a:ea typeface="Calibri"/>
                <a:cs typeface="Calibri"/>
              </a:rPr>
              <a:t>Harshit                                      Kshitiz Singh     </a:t>
            </a:r>
            <a:r>
              <a:rPr lang="en-US">
                <a:ea typeface="Calibri"/>
                <a:cs typeface="Calibri"/>
              </a:rPr>
              <a:t>  </a:t>
            </a:r>
            <a:endParaRPr lang="en-US" i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,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EF3F-5442-97B9-CE4A-DAF47A67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AE18-4605-BDA8-300C-D600DF4D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Problem and our contribution</a:t>
            </a:r>
            <a:endParaRPr lang="en-US" sz="36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9E79ADA-9032-4F94-8962-6BF41874EF89}"/>
              </a:ext>
            </a:extLst>
          </p:cNvPr>
          <p:cNvSpPr/>
          <p:nvPr/>
        </p:nvSpPr>
        <p:spPr>
          <a:xfrm>
            <a:off x="163135" y="1334155"/>
            <a:ext cx="4290629" cy="38404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Problem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5CA108B2-AD9D-3442-B1FA-A94A833259A9}"/>
              </a:ext>
            </a:extLst>
          </p:cNvPr>
          <p:cNvSpPr/>
          <p:nvPr/>
        </p:nvSpPr>
        <p:spPr>
          <a:xfrm>
            <a:off x="4695382" y="1334155"/>
            <a:ext cx="427356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Solution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5DF82042-611A-BC0B-5E8B-B10A9D4C19D4}"/>
              </a:ext>
            </a:extLst>
          </p:cNvPr>
          <p:cNvSpPr/>
          <p:nvPr/>
        </p:nvSpPr>
        <p:spPr>
          <a:xfrm>
            <a:off x="411480" y="1928884"/>
            <a:ext cx="3794760" cy="732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Existing systems rely on fixed CCTV — no mobile coverage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FCB209E5-D512-BC91-1587-1A5C89B8E25B}"/>
              </a:ext>
            </a:extLst>
          </p:cNvPr>
          <p:cNvSpPr/>
          <p:nvPr/>
        </p:nvSpPr>
        <p:spPr>
          <a:xfrm>
            <a:off x="411480" y="2882488"/>
            <a:ext cx="3794760" cy="7303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No ego-motion compensation → false detections from moving cameras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83EED8A3-B7AF-7EAA-C1F1-5AE103C9E618}"/>
              </a:ext>
            </a:extLst>
          </p:cNvPr>
          <p:cNvSpPr/>
          <p:nvPr/>
        </p:nvSpPr>
        <p:spPr>
          <a:xfrm>
            <a:off x="411480" y="3838201"/>
            <a:ext cx="3794760" cy="7316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Hard-coded thresholds fail across different environment</a:t>
            </a: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BE4B801C-532A-BF1F-C5AD-D2ABBE179C58}"/>
              </a:ext>
            </a:extLst>
          </p:cNvPr>
          <p:cNvSpPr/>
          <p:nvPr/>
        </p:nvSpPr>
        <p:spPr>
          <a:xfrm>
            <a:off x="411480" y="4784651"/>
            <a:ext cx="3794760" cy="7296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No evidence capture — no plate, no GPS, no challan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D8C67A21-7EAA-E20C-A979-5E796B913099}"/>
              </a:ext>
            </a:extLst>
          </p:cNvPr>
          <p:cNvSpPr/>
          <p:nvPr/>
        </p:nvSpPr>
        <p:spPr>
          <a:xfrm>
            <a:off x="4983480" y="1928884"/>
            <a:ext cx="3794760" cy="7291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Works on dashcam, drone &amp; patrol vehicle — no fixed infra needed</a:t>
            </a:r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BD386B70-79F0-78D7-6022-0C4AE863A3A8}"/>
              </a:ext>
            </a:extLst>
          </p:cNvPr>
          <p:cNvSpPr/>
          <p:nvPr/>
        </p:nvSpPr>
        <p:spPr>
          <a:xfrm>
            <a:off x="4983480" y="2882435"/>
            <a:ext cx="3794760" cy="7279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Lane-anchored ego-motion compensation using RANSAC homography</a:t>
            </a:r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357F4375-8879-D5F0-0270-082690944C44}"/>
              </a:ext>
            </a:extLst>
          </p:cNvPr>
          <p:cNvSpPr/>
          <p:nvPr/>
        </p:nvSpPr>
        <p:spPr>
          <a:xfrm>
            <a:off x="4983480" y="3839125"/>
            <a:ext cx="3794760" cy="733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6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Auto-calibrating adaptive threshold (P80, first 60 frames)</a:t>
            </a:r>
          </a:p>
        </p:txBody>
      </p:sp>
      <p:sp>
        <p:nvSpPr>
          <p:cNvPr id="13" name="Text 29">
            <a:extLst>
              <a:ext uri="{FF2B5EF4-FFF2-40B4-BE49-F238E27FC236}">
                <a16:creationId xmlns:a16="http://schemas.microsoft.com/office/drawing/2014/main" id="{267B4C83-4E01-4121-76E9-F6E55ED7D067}"/>
              </a:ext>
            </a:extLst>
          </p:cNvPr>
          <p:cNvSpPr/>
          <p:nvPr/>
        </p:nvSpPr>
        <p:spPr>
          <a:xfrm>
            <a:off x="4983480" y="4781896"/>
            <a:ext cx="3794760" cy="733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Full evidence: OCR plate + GPS coordinates + timestamp + photo</a:t>
            </a:r>
          </a:p>
        </p:txBody>
      </p:sp>
    </p:spTree>
    <p:extLst>
      <p:ext uri="{BB962C8B-B14F-4D97-AF65-F5344CB8AC3E}">
        <p14:creationId xmlns:p14="http://schemas.microsoft.com/office/powerpoint/2010/main" val="5202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D1C64-6DCF-1EDA-3846-E074C748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9B6049-F6D6-F435-AB51-3033A5B98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50" y="659958"/>
            <a:ext cx="7042080" cy="97619"/>
          </a:xfrm>
        </p:spPr>
        <p:txBody>
          <a:bodyPr/>
          <a:lstStyle/>
          <a:p>
            <a:r>
              <a:rPr lang="en-IN"/>
              <a:t> </a:t>
            </a:r>
            <a:r>
              <a:rPr lang="en-IN" i="1"/>
              <a:t>System Architecture</a:t>
            </a:r>
            <a:br>
              <a:rPr lang="en-IN"/>
            </a:br>
            <a:endParaRPr lang="en-IN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98E627B-A782-707D-A241-D0445CAAC79E}"/>
              </a:ext>
            </a:extLst>
          </p:cNvPr>
          <p:cNvSpPr/>
          <p:nvPr/>
        </p:nvSpPr>
        <p:spPr>
          <a:xfrm>
            <a:off x="274320" y="1687318"/>
            <a:ext cx="2743200" cy="34747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kern="0" spc="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HARDWARE LAYER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B2ED3CA-BB62-0653-1508-208811CD351F}"/>
              </a:ext>
            </a:extLst>
          </p:cNvPr>
          <p:cNvSpPr/>
          <p:nvPr/>
        </p:nvSpPr>
        <p:spPr>
          <a:xfrm>
            <a:off x="365760" y="2144518"/>
            <a:ext cx="2560320" cy="274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📷</a:t>
            </a:r>
            <a:r>
              <a:rPr lang="en-US" sz="16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600" b="1">
                <a:latin typeface="Calibri"/>
                <a:ea typeface="Calibri"/>
                <a:cs typeface="Calibri"/>
              </a:rPr>
              <a:t>Camera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84319C9-91C4-11A4-275A-25571EBCE7BB}"/>
              </a:ext>
            </a:extLst>
          </p:cNvPr>
          <p:cNvSpPr/>
          <p:nvPr/>
        </p:nvSpPr>
        <p:spPr>
          <a:xfrm>
            <a:off x="365760" y="2418838"/>
            <a:ext cx="2560320" cy="3474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latin typeface="Calibri"/>
                <a:ea typeface="Calibri"/>
                <a:cs typeface="Calibri"/>
              </a:rPr>
              <a:t>Dashcam mounted on patrol vehicle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AB2706-9598-AF01-0D0C-37A96A1D551D}"/>
              </a:ext>
            </a:extLst>
          </p:cNvPr>
          <p:cNvSpPr/>
          <p:nvPr/>
        </p:nvSpPr>
        <p:spPr>
          <a:xfrm>
            <a:off x="365760" y="3022342"/>
            <a:ext cx="2560320" cy="274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🍓  </a:t>
            </a:r>
            <a:r>
              <a:rPr lang="en-US" sz="1600" b="1">
                <a:latin typeface="Calibri"/>
                <a:ea typeface="Calibri"/>
                <a:cs typeface="Calibri"/>
              </a:rPr>
              <a:t>Raspberry Pi 4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7B9B4E-7740-2091-72C4-118DCB8B65A9}"/>
              </a:ext>
            </a:extLst>
          </p:cNvPr>
          <p:cNvSpPr/>
          <p:nvPr/>
        </p:nvSpPr>
        <p:spPr>
          <a:xfrm>
            <a:off x="365760" y="3296662"/>
            <a:ext cx="25603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200">
                <a:latin typeface="Calibri"/>
                <a:ea typeface="Calibri"/>
                <a:cs typeface="Calibri"/>
              </a:rPr>
              <a:t>Edge orchestrator — capture + stream</a:t>
            </a: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0AFEBD3A-15E0-E026-2DD2-347858916700}"/>
              </a:ext>
            </a:extLst>
          </p:cNvPr>
          <p:cNvSpPr/>
          <p:nvPr/>
        </p:nvSpPr>
        <p:spPr>
          <a:xfrm>
            <a:off x="365760" y="3900166"/>
            <a:ext cx="2560320" cy="274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📡 </a:t>
            </a:r>
            <a:r>
              <a:rPr lang="en-US" sz="1600" b="1">
                <a:latin typeface="Calibri"/>
                <a:ea typeface="Calibri"/>
                <a:cs typeface="Calibri"/>
              </a:rPr>
              <a:t> GPS Module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A30BED0-C21C-7EFC-3C6E-7102E37294CE}"/>
              </a:ext>
            </a:extLst>
          </p:cNvPr>
          <p:cNvSpPr/>
          <p:nvPr/>
        </p:nvSpPr>
        <p:spPr>
          <a:xfrm>
            <a:off x="365760" y="417448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latin typeface="Calibri"/>
                <a:ea typeface="Calibri"/>
                <a:cs typeface="Calibri"/>
              </a:rPr>
              <a:t>Real-time coordinate logging</a:t>
            </a: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BA3E5B5D-CCCB-E4DC-5C11-220B932762EE}"/>
              </a:ext>
            </a:extLst>
          </p:cNvPr>
          <p:cNvSpPr/>
          <p:nvPr/>
        </p:nvSpPr>
        <p:spPr>
          <a:xfrm>
            <a:off x="365760" y="4777990"/>
            <a:ext cx="2560320" cy="274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🌐  </a:t>
            </a:r>
            <a:r>
              <a:rPr lang="en-US" sz="1600" b="1">
                <a:latin typeface="Calibri"/>
                <a:ea typeface="Calibri"/>
                <a:cs typeface="Calibri"/>
              </a:rPr>
              <a:t>Wi-Fi / LTE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C033872A-B7A9-4E0A-995A-239224E3FB21}"/>
              </a:ext>
            </a:extLst>
          </p:cNvPr>
          <p:cNvSpPr/>
          <p:nvPr/>
        </p:nvSpPr>
        <p:spPr>
          <a:xfrm>
            <a:off x="365760" y="5052310"/>
            <a:ext cx="25603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200">
                <a:latin typeface="Calibri"/>
                <a:ea typeface="Calibri"/>
                <a:cs typeface="Calibri"/>
              </a:rPr>
              <a:t>Live video stream to server</a:t>
            </a: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6F6EC8DB-3624-352A-3BB8-CE62E615B651}"/>
              </a:ext>
            </a:extLst>
          </p:cNvPr>
          <p:cNvSpPr/>
          <p:nvPr/>
        </p:nvSpPr>
        <p:spPr>
          <a:xfrm>
            <a:off x="3580848" y="3294262"/>
            <a:ext cx="253634" cy="33638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>
              <a:solidFill>
                <a:srgbClr val="00B4D8"/>
              </a:solidFill>
              <a:ea typeface="Calibri"/>
              <a:cs typeface="Calibri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35FFA92D-43C3-B668-64B5-E80D3F061F99}"/>
              </a:ext>
            </a:extLst>
          </p:cNvPr>
          <p:cNvSpPr/>
          <p:nvPr/>
        </p:nvSpPr>
        <p:spPr>
          <a:xfrm>
            <a:off x="3841020" y="1687318"/>
            <a:ext cx="5029200" cy="34747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kern="0" spc="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SERVER / SOFTWARE LAYER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EFE7D8FE-6D18-103F-A132-F23E0AF65A94}"/>
              </a:ext>
            </a:extLst>
          </p:cNvPr>
          <p:cNvSpPr/>
          <p:nvPr/>
        </p:nvSpPr>
        <p:spPr>
          <a:xfrm>
            <a:off x="3840480" y="2126230"/>
            <a:ext cx="347472" cy="56692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EA47E788-6B2D-A33C-8671-AEC688D05A49}"/>
              </a:ext>
            </a:extLst>
          </p:cNvPr>
          <p:cNvSpPr/>
          <p:nvPr/>
        </p:nvSpPr>
        <p:spPr>
          <a:xfrm>
            <a:off x="4234901" y="2120544"/>
            <a:ext cx="4628410" cy="258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Calibri"/>
                <a:ea typeface="Calibri"/>
                <a:cs typeface="Calibri"/>
              </a:rPr>
              <a:t>YOLOv8 + </a:t>
            </a:r>
            <a:r>
              <a:rPr lang="en-US" sz="1600" b="1" err="1">
                <a:latin typeface="Calibri"/>
                <a:ea typeface="Calibri"/>
                <a:cs typeface="Calibri"/>
              </a:rPr>
              <a:t>ByteTrack</a:t>
            </a:r>
            <a:endParaRPr lang="en-US" sz="1600" err="1">
              <a:latin typeface="Calibri"/>
              <a:ea typeface="Calibri"/>
              <a:cs typeface="Calibri"/>
            </a:endParaRPr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B9F593CA-A0B4-03B3-3156-16BDD32E80C4}"/>
              </a:ext>
            </a:extLst>
          </p:cNvPr>
          <p:cNvSpPr/>
          <p:nvPr/>
        </p:nvSpPr>
        <p:spPr>
          <a:xfrm>
            <a:off x="4251960" y="2366203"/>
            <a:ext cx="448056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latin typeface="Calibri"/>
                <a:ea typeface="Calibri"/>
                <a:cs typeface="Calibri"/>
              </a:rPr>
              <a:t>Vehicle detection &amp; multi-object tracking</a:t>
            </a:r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F1710838-FA20-586C-DD8A-C54DB42C4426}"/>
              </a:ext>
            </a:extLst>
          </p:cNvPr>
          <p:cNvSpPr/>
          <p:nvPr/>
        </p:nvSpPr>
        <p:spPr>
          <a:xfrm>
            <a:off x="3840480" y="2826202"/>
            <a:ext cx="347472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DCF61392-F701-C10D-2E34-EED83DB7CDD9}"/>
              </a:ext>
            </a:extLst>
          </p:cNvPr>
          <p:cNvSpPr/>
          <p:nvPr/>
        </p:nvSpPr>
        <p:spPr>
          <a:xfrm>
            <a:off x="4246274" y="2824631"/>
            <a:ext cx="4622723" cy="2639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Calibri"/>
                <a:ea typeface="Calibri"/>
                <a:cs typeface="Calibri"/>
              </a:rPr>
              <a:t>Ego-Motion Compensation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74AF0C87-A9FE-1430-1A38-7A673357FE9B}"/>
              </a:ext>
            </a:extLst>
          </p:cNvPr>
          <p:cNvSpPr/>
          <p:nvPr/>
        </p:nvSpPr>
        <p:spPr>
          <a:xfrm>
            <a:off x="4251960" y="3104410"/>
            <a:ext cx="448056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latin typeface="Calibri"/>
                <a:ea typeface="Calibri"/>
                <a:cs typeface="Calibri"/>
              </a:rPr>
              <a:t>LK optical flow + RANSAC </a:t>
            </a:r>
            <a:r>
              <a:rPr lang="en-US" sz="1200" err="1">
                <a:latin typeface="Calibri"/>
                <a:ea typeface="Calibri"/>
                <a:cs typeface="Calibri"/>
              </a:rPr>
              <a:t>homography</a:t>
            </a:r>
            <a:r>
              <a:rPr lang="en-US" sz="1200">
                <a:latin typeface="Calibri"/>
                <a:ea typeface="Calibri"/>
                <a:cs typeface="Calibri"/>
              </a:rPr>
              <a:t> on lane markings</a:t>
            </a:r>
          </a:p>
        </p:txBody>
      </p:sp>
      <p:sp>
        <p:nvSpPr>
          <p:cNvPr id="23" name="Text 30">
            <a:extLst>
              <a:ext uri="{FF2B5EF4-FFF2-40B4-BE49-F238E27FC236}">
                <a16:creationId xmlns:a16="http://schemas.microsoft.com/office/drawing/2014/main" id="{A652F83E-30E0-E03F-C148-A31BC43D1672}"/>
              </a:ext>
            </a:extLst>
          </p:cNvPr>
          <p:cNvSpPr/>
          <p:nvPr/>
        </p:nvSpPr>
        <p:spPr>
          <a:xfrm>
            <a:off x="3840480" y="3534406"/>
            <a:ext cx="347472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/>
          </a:p>
        </p:txBody>
      </p:sp>
      <p:sp>
        <p:nvSpPr>
          <p:cNvPr id="24" name="Text 31">
            <a:extLst>
              <a:ext uri="{FF2B5EF4-FFF2-40B4-BE49-F238E27FC236}">
                <a16:creationId xmlns:a16="http://schemas.microsoft.com/office/drawing/2014/main" id="{5A47F10C-8F8B-5D00-7CD0-21A80F38FB37}"/>
              </a:ext>
            </a:extLst>
          </p:cNvPr>
          <p:cNvSpPr/>
          <p:nvPr/>
        </p:nvSpPr>
        <p:spPr>
          <a:xfrm>
            <a:off x="4251960" y="3540094"/>
            <a:ext cx="4611351" cy="269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Calibri"/>
                <a:ea typeface="Calibri"/>
                <a:cs typeface="Calibri"/>
              </a:rPr>
              <a:t>Parking State Engine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5" name="Text 32">
            <a:extLst>
              <a:ext uri="{FF2B5EF4-FFF2-40B4-BE49-F238E27FC236}">
                <a16:creationId xmlns:a16="http://schemas.microsoft.com/office/drawing/2014/main" id="{A5B021FD-BBF7-0470-5CB1-65614409F45D}"/>
              </a:ext>
            </a:extLst>
          </p:cNvPr>
          <p:cNvSpPr/>
          <p:nvPr/>
        </p:nvSpPr>
        <p:spPr>
          <a:xfrm>
            <a:off x="4251960" y="3797126"/>
            <a:ext cx="448056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latin typeface="Calibri"/>
                <a:ea typeface="Calibri"/>
                <a:cs typeface="Calibri"/>
              </a:rPr>
              <a:t>Adaptive P80 threshold + EMA smoothing + forgiveness frames</a:t>
            </a:r>
          </a:p>
        </p:txBody>
      </p:sp>
      <p:sp>
        <p:nvSpPr>
          <p:cNvPr id="26" name="Text 35">
            <a:extLst>
              <a:ext uri="{FF2B5EF4-FFF2-40B4-BE49-F238E27FC236}">
                <a16:creationId xmlns:a16="http://schemas.microsoft.com/office/drawing/2014/main" id="{92FB44DF-BE81-5D83-4368-52FA5919B6C8}"/>
              </a:ext>
            </a:extLst>
          </p:cNvPr>
          <p:cNvSpPr/>
          <p:nvPr/>
        </p:nvSpPr>
        <p:spPr>
          <a:xfrm>
            <a:off x="3840480" y="4238494"/>
            <a:ext cx="347472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/>
          </a:p>
        </p:txBody>
      </p:sp>
      <p:sp>
        <p:nvSpPr>
          <p:cNvPr id="27" name="Text 36">
            <a:extLst>
              <a:ext uri="{FF2B5EF4-FFF2-40B4-BE49-F238E27FC236}">
                <a16:creationId xmlns:a16="http://schemas.microsoft.com/office/drawing/2014/main" id="{A8FDF512-89B9-2609-DE84-1CBFBECC4120}"/>
              </a:ext>
            </a:extLst>
          </p:cNvPr>
          <p:cNvSpPr/>
          <p:nvPr/>
        </p:nvSpPr>
        <p:spPr>
          <a:xfrm>
            <a:off x="4251960" y="4232809"/>
            <a:ext cx="4617037" cy="292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Calibri"/>
                <a:ea typeface="Calibri"/>
                <a:cs typeface="Calibri"/>
              </a:rPr>
              <a:t>Smart OCR Pipeline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8" name="Text 37">
            <a:extLst>
              <a:ext uri="{FF2B5EF4-FFF2-40B4-BE49-F238E27FC236}">
                <a16:creationId xmlns:a16="http://schemas.microsoft.com/office/drawing/2014/main" id="{83EF363E-79BE-B5A8-2D76-75201CF531CA}"/>
              </a:ext>
            </a:extLst>
          </p:cNvPr>
          <p:cNvSpPr/>
          <p:nvPr/>
        </p:nvSpPr>
        <p:spPr>
          <a:xfrm>
            <a:off x="4251960" y="45239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200">
                <a:latin typeface="Calibri"/>
                <a:ea typeface="Calibri"/>
                <a:cs typeface="Calibri"/>
              </a:rPr>
              <a:t>CLAHE → EasyOCR → regex → majority voting</a:t>
            </a:r>
          </a:p>
        </p:txBody>
      </p:sp>
      <p:sp>
        <p:nvSpPr>
          <p:cNvPr id="29" name="Text 40">
            <a:extLst>
              <a:ext uri="{FF2B5EF4-FFF2-40B4-BE49-F238E27FC236}">
                <a16:creationId xmlns:a16="http://schemas.microsoft.com/office/drawing/2014/main" id="{F0F9EE30-2651-F309-B0CA-4CC9AC272300}"/>
              </a:ext>
            </a:extLst>
          </p:cNvPr>
          <p:cNvSpPr/>
          <p:nvPr/>
        </p:nvSpPr>
        <p:spPr>
          <a:xfrm>
            <a:off x="3863226" y="4942582"/>
            <a:ext cx="347472" cy="66928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/>
          </a:p>
        </p:txBody>
      </p:sp>
      <p:sp>
        <p:nvSpPr>
          <p:cNvPr id="30" name="Text 41">
            <a:extLst>
              <a:ext uri="{FF2B5EF4-FFF2-40B4-BE49-F238E27FC236}">
                <a16:creationId xmlns:a16="http://schemas.microsoft.com/office/drawing/2014/main" id="{D493C09F-CFF1-495E-3676-7127D8C1C0B0}"/>
              </a:ext>
            </a:extLst>
          </p:cNvPr>
          <p:cNvSpPr/>
          <p:nvPr/>
        </p:nvSpPr>
        <p:spPr>
          <a:xfrm>
            <a:off x="4251960" y="4936896"/>
            <a:ext cx="4617037" cy="252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Calibri"/>
                <a:ea typeface="Calibri"/>
                <a:cs typeface="Calibri"/>
              </a:rPr>
              <a:t>GPS Evidence Logger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1" name="Text 42">
            <a:extLst>
              <a:ext uri="{FF2B5EF4-FFF2-40B4-BE49-F238E27FC236}">
                <a16:creationId xmlns:a16="http://schemas.microsoft.com/office/drawing/2014/main" id="{664266FA-4059-095D-A3EE-1164F0B9F4C2}"/>
              </a:ext>
            </a:extLst>
          </p:cNvPr>
          <p:cNvSpPr/>
          <p:nvPr/>
        </p:nvSpPr>
        <p:spPr>
          <a:xfrm>
            <a:off x="4234900" y="5233734"/>
            <a:ext cx="4634097" cy="4006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latin typeface="Calibri"/>
                <a:ea typeface="Calibri"/>
                <a:cs typeface="Calibri"/>
              </a:rPr>
              <a:t>Coordinates + plate + timestamp + cropped image → SQLite DB + REST API dashboard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DCF3641-941B-516B-AC5F-DBF5697A6845}"/>
              </a:ext>
            </a:extLst>
          </p:cNvPr>
          <p:cNvSpPr/>
          <p:nvPr/>
        </p:nvSpPr>
        <p:spPr>
          <a:xfrm>
            <a:off x="3012188" y="3466532"/>
            <a:ext cx="689991" cy="277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68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1E292-1F74-C3C3-E19D-51F50BB2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BB06003-FE75-0628-FAD4-A0DA13DF1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50" y="322542"/>
            <a:ext cx="7042080" cy="435035"/>
          </a:xfrm>
        </p:spPr>
        <p:txBody>
          <a:bodyPr/>
          <a:lstStyle/>
          <a:p>
            <a:r>
              <a:rPr lang="en-IN" i="1">
                <a:ea typeface="Calibri"/>
                <a:cs typeface="Calibri"/>
              </a:rPr>
              <a:t>Novelty – What Sets RTIPVD Apart</a:t>
            </a:r>
            <a:endParaRPr lang="en-US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AF05143C-4C2E-E1AE-778E-EA8AF0209436}"/>
              </a:ext>
            </a:extLst>
          </p:cNvPr>
          <p:cNvSpPr/>
          <p:nvPr/>
        </p:nvSpPr>
        <p:spPr>
          <a:xfrm>
            <a:off x="274320" y="1489517"/>
            <a:ext cx="347472" cy="8686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F9C06E6E-60F0-B990-8203-CC2B48C5DF28}"/>
              </a:ext>
            </a:extLst>
          </p:cNvPr>
          <p:cNvSpPr/>
          <p:nvPr/>
        </p:nvSpPr>
        <p:spPr>
          <a:xfrm>
            <a:off x="680114" y="1487516"/>
            <a:ext cx="3885517" cy="3539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Moving Camera Compatible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613F358-295B-4C18-D36D-90D0B01899CA}"/>
              </a:ext>
            </a:extLst>
          </p:cNvPr>
          <p:cNvSpPr/>
          <p:nvPr/>
        </p:nvSpPr>
        <p:spPr>
          <a:xfrm>
            <a:off x="685800" y="1863438"/>
            <a:ext cx="3879831" cy="4641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Works from dashcams, drones, patrol vehicles — unlike all fixed CCTV systems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D988DFD4-C486-9F1D-5D9E-0CD06624F936}"/>
              </a:ext>
            </a:extLst>
          </p:cNvPr>
          <p:cNvSpPr/>
          <p:nvPr/>
        </p:nvSpPr>
        <p:spPr>
          <a:xfrm>
            <a:off x="4754880" y="1489517"/>
            <a:ext cx="347472" cy="8686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E08850FD-CF8F-64C2-DB0F-B949842C0CF1}"/>
              </a:ext>
            </a:extLst>
          </p:cNvPr>
          <p:cNvSpPr/>
          <p:nvPr/>
        </p:nvSpPr>
        <p:spPr>
          <a:xfrm>
            <a:off x="5154989" y="1487515"/>
            <a:ext cx="3771785" cy="3198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Lane-Anchored Ego-Motion Compensation</a:t>
            </a: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130D260A-C994-040A-685E-15BBB0FCF8A4}"/>
              </a:ext>
            </a:extLst>
          </p:cNvPr>
          <p:cNvSpPr/>
          <p:nvPr/>
        </p:nvSpPr>
        <p:spPr>
          <a:xfrm>
            <a:off x="5166360" y="1886184"/>
            <a:ext cx="3749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Lane optical flow = exact camera motion; vehicle motion minus lane = true absolute motion</a:t>
            </a: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662C4C2D-B7F8-7948-A4FD-7D11B707CBBC}"/>
              </a:ext>
            </a:extLst>
          </p:cNvPr>
          <p:cNvSpPr/>
          <p:nvPr/>
        </p:nvSpPr>
        <p:spPr>
          <a:xfrm>
            <a:off x="274320" y="2495357"/>
            <a:ext cx="347472" cy="8686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D796380D-684E-FFF9-0321-534E4A64B68E}"/>
              </a:ext>
            </a:extLst>
          </p:cNvPr>
          <p:cNvSpPr/>
          <p:nvPr/>
        </p:nvSpPr>
        <p:spPr>
          <a:xfrm>
            <a:off x="668741" y="2493356"/>
            <a:ext cx="3908263" cy="3425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Homography-Based Perspective Transform</a:t>
            </a: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40C6F8E2-67DE-A6CA-479E-123C058856A2}"/>
              </a:ext>
            </a:extLst>
          </p:cNvPr>
          <p:cNvSpPr/>
          <p:nvPr/>
        </p:nvSpPr>
        <p:spPr>
          <a:xfrm>
            <a:off x="685800" y="2909083"/>
            <a:ext cx="3885517" cy="4925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RANSAC </a:t>
            </a:r>
            <a:r>
              <a:rPr lang="en-US" sz="14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homography</a:t>
            </a: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handles rotation, zoom &amp; perspective — not just simple translation</a:t>
            </a:r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9DDE3A97-1F29-C57E-838E-EE89F12EFE91}"/>
              </a:ext>
            </a:extLst>
          </p:cNvPr>
          <p:cNvSpPr/>
          <p:nvPr/>
        </p:nvSpPr>
        <p:spPr>
          <a:xfrm>
            <a:off x="4754880" y="2495357"/>
            <a:ext cx="347472" cy="8686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9BB0260E-4881-FC07-8AC0-DBD0046EDC72}"/>
              </a:ext>
            </a:extLst>
          </p:cNvPr>
          <p:cNvSpPr/>
          <p:nvPr/>
        </p:nvSpPr>
        <p:spPr>
          <a:xfrm>
            <a:off x="5154987" y="2493355"/>
            <a:ext cx="3749040" cy="274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Auto-Calibrating Adaptive Threshold</a:t>
            </a:r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F7157EDA-7102-F950-4F05-1299EAB9AF6B}"/>
              </a:ext>
            </a:extLst>
          </p:cNvPr>
          <p:cNvSpPr/>
          <p:nvPr/>
        </p:nvSpPr>
        <p:spPr>
          <a:xfrm>
            <a:off x="5157925" y="2892024"/>
            <a:ext cx="3749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P80 percentile over first 60 frames; auto-adapts to resolution, speed, lighting</a:t>
            </a:r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33BDAD7E-EA71-2456-32AA-2A1DB57C11AB}"/>
              </a:ext>
            </a:extLst>
          </p:cNvPr>
          <p:cNvSpPr/>
          <p:nvPr/>
        </p:nvSpPr>
        <p:spPr>
          <a:xfrm>
            <a:off x="274320" y="3501197"/>
            <a:ext cx="347472" cy="8686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/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CE447A97-35E7-64CC-0938-49A46C1C0947}"/>
              </a:ext>
            </a:extLst>
          </p:cNvPr>
          <p:cNvSpPr/>
          <p:nvPr/>
        </p:nvSpPr>
        <p:spPr>
          <a:xfrm>
            <a:off x="685800" y="3504882"/>
            <a:ext cx="3885517" cy="3254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6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Jitter-Resilient Classification</a:t>
            </a:r>
          </a:p>
        </p:txBody>
      </p:sp>
      <p:sp>
        <p:nvSpPr>
          <p:cNvPr id="19" name="Text 26">
            <a:extLst>
              <a:ext uri="{FF2B5EF4-FFF2-40B4-BE49-F238E27FC236}">
                <a16:creationId xmlns:a16="http://schemas.microsoft.com/office/drawing/2014/main" id="{C665E319-700A-B8D9-C904-24EC24516B69}"/>
              </a:ext>
            </a:extLst>
          </p:cNvPr>
          <p:cNvSpPr/>
          <p:nvPr/>
        </p:nvSpPr>
        <p:spPr>
          <a:xfrm>
            <a:off x="668929" y="3847064"/>
            <a:ext cx="3885517" cy="52666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EMA centroid smoothing + forgiveness frames prevent false resets from YOLO box jitter</a:t>
            </a:r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F28DA211-F6B6-A6F8-2AA0-B0033248EE69}"/>
              </a:ext>
            </a:extLst>
          </p:cNvPr>
          <p:cNvSpPr/>
          <p:nvPr/>
        </p:nvSpPr>
        <p:spPr>
          <a:xfrm>
            <a:off x="4754880" y="3501197"/>
            <a:ext cx="347472" cy="8686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/>
          </a:p>
        </p:txBody>
      </p:sp>
      <p:sp>
        <p:nvSpPr>
          <p:cNvPr id="21" name="Text 30">
            <a:extLst>
              <a:ext uri="{FF2B5EF4-FFF2-40B4-BE49-F238E27FC236}">
                <a16:creationId xmlns:a16="http://schemas.microsoft.com/office/drawing/2014/main" id="{5DB50B62-3400-6E7C-44FD-4970C7CC6A37}"/>
              </a:ext>
            </a:extLst>
          </p:cNvPr>
          <p:cNvSpPr/>
          <p:nvPr/>
        </p:nvSpPr>
        <p:spPr>
          <a:xfrm>
            <a:off x="5166360" y="3499195"/>
            <a:ext cx="3749040" cy="274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6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GPS-Anchored Target Geolocation</a:t>
            </a:r>
          </a:p>
        </p:txBody>
      </p:sp>
      <p:sp>
        <p:nvSpPr>
          <p:cNvPr id="22" name="Text 31">
            <a:extLst>
              <a:ext uri="{FF2B5EF4-FFF2-40B4-BE49-F238E27FC236}">
                <a16:creationId xmlns:a16="http://schemas.microsoft.com/office/drawing/2014/main" id="{30410EC4-667F-BDBE-0FF6-DF52A8C7EC63}"/>
              </a:ext>
            </a:extLst>
          </p:cNvPr>
          <p:cNvSpPr/>
          <p:nvPr/>
        </p:nvSpPr>
        <p:spPr>
          <a:xfrm>
            <a:off x="5166360" y="3872558"/>
            <a:ext cx="37490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Patrol GPS + camera geometry → exact coordinates of the violator vehicle, not observer</a:t>
            </a:r>
          </a:p>
        </p:txBody>
      </p:sp>
      <p:sp>
        <p:nvSpPr>
          <p:cNvPr id="23" name="Text 33">
            <a:extLst>
              <a:ext uri="{FF2B5EF4-FFF2-40B4-BE49-F238E27FC236}">
                <a16:creationId xmlns:a16="http://schemas.microsoft.com/office/drawing/2014/main" id="{EB0A8D65-2095-2919-138B-C9673C16B654}"/>
              </a:ext>
            </a:extLst>
          </p:cNvPr>
          <p:cNvSpPr/>
          <p:nvPr/>
        </p:nvSpPr>
        <p:spPr>
          <a:xfrm>
            <a:off x="681270" y="4514818"/>
            <a:ext cx="8192698" cy="3490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Smart OCR Pipeline</a:t>
            </a:r>
            <a:r>
              <a:rPr lang="en-US" sz="1000"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" name="Text 29">
            <a:extLst>
              <a:ext uri="{FF2B5EF4-FFF2-40B4-BE49-F238E27FC236}">
                <a16:creationId xmlns:a16="http://schemas.microsoft.com/office/drawing/2014/main" id="{5781C0CA-3F30-8797-B88E-1C9DC278CFEE}"/>
              </a:ext>
            </a:extLst>
          </p:cNvPr>
          <p:cNvSpPr/>
          <p:nvPr/>
        </p:nvSpPr>
        <p:spPr>
          <a:xfrm>
            <a:off x="273865" y="4516154"/>
            <a:ext cx="347472" cy="85181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</a:rPr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65FC76-B61C-DA0C-F3DA-DEA05A8F3C8F}"/>
              </a:ext>
            </a:extLst>
          </p:cNvPr>
          <p:cNvSpPr txBox="1"/>
          <p:nvPr/>
        </p:nvSpPr>
        <p:spPr>
          <a:xfrm>
            <a:off x="624222" y="4938940"/>
            <a:ext cx="67567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400" baseline="0">
                <a:latin typeface="Calibri"/>
              </a:rPr>
              <a:t>  </a:t>
            </a: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OCR activates ONLY for stopped vehicles; CLAHE → EasyOCR → regex → majority voting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9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B85CA-F81A-1D10-D665-78CD722BB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BFE422-2535-E259-8354-10A260FF4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50" y="680834"/>
            <a:ext cx="7042080" cy="285510"/>
          </a:xfrm>
        </p:spPr>
        <p:txBody>
          <a:bodyPr/>
          <a:lstStyle/>
          <a:p>
            <a:r>
              <a:rPr lang="en-IN" i="1"/>
              <a:t>Results and deliverables</a:t>
            </a:r>
            <a:br>
              <a:rPr lang="en-IN"/>
            </a:br>
            <a:endParaRPr lang="en-IN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03F5241-22C5-683A-CC5F-2FAB349C7DB5}"/>
              </a:ext>
            </a:extLst>
          </p:cNvPr>
          <p:cNvSpPr/>
          <p:nvPr/>
        </p:nvSpPr>
        <p:spPr>
          <a:xfrm>
            <a:off x="274321" y="1262282"/>
            <a:ext cx="1960274" cy="466891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</a:t>
            </a:r>
            <a:endParaRPr lang="en-US" sz="160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82CCBBB-A92D-349F-791B-21D580CB4A04}"/>
              </a:ext>
            </a:extLst>
          </p:cNvPr>
          <p:cNvSpPr/>
          <p:nvPr/>
        </p:nvSpPr>
        <p:spPr>
          <a:xfrm>
            <a:off x="274320" y="1723485"/>
            <a:ext cx="1965960" cy="256032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Trained</a:t>
            </a:r>
            <a:endParaRPr lang="en-US" sz="110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59938413-42A7-5CE5-EA34-C9D0C7D5877A}"/>
              </a:ext>
            </a:extLst>
          </p:cNvPr>
          <p:cNvSpPr/>
          <p:nvPr/>
        </p:nvSpPr>
        <p:spPr>
          <a:xfrm>
            <a:off x="274320" y="1970373"/>
            <a:ext cx="196596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Parking vehicle detection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C5CADCE-0D93-DC41-4C75-15693264B8CD}"/>
              </a:ext>
            </a:extLst>
          </p:cNvPr>
          <p:cNvSpPr/>
          <p:nvPr/>
        </p:nvSpPr>
        <p:spPr>
          <a:xfrm>
            <a:off x="2450592" y="1256595"/>
            <a:ext cx="1960273" cy="47257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ByteTrack</a:t>
            </a:r>
            <a:endParaRPr lang="en-US" sz="1600">
              <a:latin typeface="Arial Black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B822A53-0E76-1CCD-71BD-22A9C25B130F}"/>
              </a:ext>
            </a:extLst>
          </p:cNvPr>
          <p:cNvSpPr/>
          <p:nvPr/>
        </p:nvSpPr>
        <p:spPr>
          <a:xfrm>
            <a:off x="2450592" y="1723485"/>
            <a:ext cx="1965960" cy="256032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</a:t>
            </a:r>
            <a:endParaRPr lang="en-US" sz="110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91BAEC5-300F-ACFE-B111-0F9C8B88F272}"/>
              </a:ext>
            </a:extLst>
          </p:cNvPr>
          <p:cNvSpPr/>
          <p:nvPr/>
        </p:nvSpPr>
        <p:spPr>
          <a:xfrm>
            <a:off x="2450592" y="1970373"/>
            <a:ext cx="196596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Vehicle tracking across frames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698F5EDE-DCAA-7364-4F88-F0A70AF06475}"/>
              </a:ext>
            </a:extLst>
          </p:cNvPr>
          <p:cNvSpPr/>
          <p:nvPr/>
        </p:nvSpPr>
        <p:spPr>
          <a:xfrm>
            <a:off x="4626864" y="1256596"/>
            <a:ext cx="1965960" cy="47257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EasyOCR</a:t>
            </a:r>
            <a:endParaRPr lang="en-US" sz="160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5114678F-223E-BED6-77A9-5E7133CEA750}"/>
              </a:ext>
            </a:extLst>
          </p:cNvPr>
          <p:cNvSpPr/>
          <p:nvPr/>
        </p:nvSpPr>
        <p:spPr>
          <a:xfrm>
            <a:off x="4626864" y="1723485"/>
            <a:ext cx="1965960" cy="256032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Plates</a:t>
            </a:r>
            <a:endParaRPr lang="en-US" sz="110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B0DE8507-E68B-01AD-210F-1DAD3D8FDF2D}"/>
              </a:ext>
            </a:extLst>
          </p:cNvPr>
          <p:cNvSpPr/>
          <p:nvPr/>
        </p:nvSpPr>
        <p:spPr>
          <a:xfrm>
            <a:off x="4626864" y="1970373"/>
            <a:ext cx="196596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Regex-validated plate reading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BE35521-C3C1-F015-43EE-2F3D877583EE}"/>
              </a:ext>
            </a:extLst>
          </p:cNvPr>
          <p:cNvSpPr/>
          <p:nvPr/>
        </p:nvSpPr>
        <p:spPr>
          <a:xfrm>
            <a:off x="6797449" y="1256596"/>
            <a:ext cx="1965960" cy="47257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Raspberry Pi</a:t>
            </a:r>
            <a:endParaRPr lang="en-US" sz="160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9431FC57-D317-4CE0-C3B4-55339AF0AF23}"/>
              </a:ext>
            </a:extLst>
          </p:cNvPr>
          <p:cNvSpPr/>
          <p:nvPr/>
        </p:nvSpPr>
        <p:spPr>
          <a:xfrm>
            <a:off x="6803136" y="1723485"/>
            <a:ext cx="1965960" cy="256032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</a:t>
            </a:r>
            <a:endParaRPr lang="en-US" sz="110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07219624-4C7B-A8F6-B1A2-2F733886ED98}"/>
              </a:ext>
            </a:extLst>
          </p:cNvPr>
          <p:cNvSpPr/>
          <p:nvPr/>
        </p:nvSpPr>
        <p:spPr>
          <a:xfrm>
            <a:off x="6803136" y="1970373"/>
            <a:ext cx="196596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Live GPS + stream pipeline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6C9B3E10-554C-074B-0058-6B528AD60E9B}"/>
              </a:ext>
            </a:extLst>
          </p:cNvPr>
          <p:cNvSpPr/>
          <p:nvPr/>
        </p:nvSpPr>
        <p:spPr>
          <a:xfrm>
            <a:off x="274320" y="2733556"/>
            <a:ext cx="4114800" cy="347472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✅</a:t>
            </a:r>
            <a:r>
              <a:rPr lang="en-US" sz="20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Completed Features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9FFB63D2-E467-87D3-0C24-69BB4E437845}"/>
              </a:ext>
            </a:extLst>
          </p:cNvPr>
          <p:cNvSpPr/>
          <p:nvPr/>
        </p:nvSpPr>
        <p:spPr>
          <a:xfrm>
            <a:off x="274320" y="3163324"/>
            <a:ext cx="4114800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Custom YOLOv8 vehicle detection model</a:t>
            </a: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3BEEE251-D2C7-6E7A-3E14-58973110A113}"/>
              </a:ext>
            </a:extLst>
          </p:cNvPr>
          <p:cNvSpPr/>
          <p:nvPr/>
        </p:nvSpPr>
        <p:spPr>
          <a:xfrm>
            <a:off x="274320" y="3446788"/>
            <a:ext cx="4114800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ByteTrack multi-vehicle tracking</a:t>
            </a: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6B844A2E-6F0F-9302-C712-22E08FD128EC}"/>
              </a:ext>
            </a:extLst>
          </p:cNvPr>
          <p:cNvSpPr/>
          <p:nvPr/>
        </p:nvSpPr>
        <p:spPr>
          <a:xfrm>
            <a:off x="274320" y="3735939"/>
            <a:ext cx="4131859" cy="4493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✓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Lane-based ego-motion compensation (LK  +  Homography)</a:t>
            </a: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97621043-577D-709B-6385-3B52E404805E}"/>
              </a:ext>
            </a:extLst>
          </p:cNvPr>
          <p:cNvSpPr/>
          <p:nvPr/>
        </p:nvSpPr>
        <p:spPr>
          <a:xfrm>
            <a:off x="274320" y="4218432"/>
            <a:ext cx="4114800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✓ 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Real-time parking detection from moving camera</a:t>
            </a: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05048BDE-3DE8-9969-1204-B25AC6591690}"/>
              </a:ext>
            </a:extLst>
          </p:cNvPr>
          <p:cNvSpPr/>
          <p:nvPr/>
        </p:nvSpPr>
        <p:spPr>
          <a:xfrm>
            <a:off x="274320" y="4513269"/>
            <a:ext cx="4114800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EasyOCR plate reading with regex + majority voting</a:t>
            </a: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9321A0D0-C360-C8E5-47AB-77BDC13DF157}"/>
              </a:ext>
            </a:extLst>
          </p:cNvPr>
          <p:cNvSpPr/>
          <p:nvPr/>
        </p:nvSpPr>
        <p:spPr>
          <a:xfrm>
            <a:off x="274320" y="4808106"/>
            <a:ext cx="4114800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✓ 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Adaptive threshold auto-calibration (P80)</a:t>
            </a: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EDC87A23-C0C9-8BA3-454E-943482E1C1FD}"/>
              </a:ext>
            </a:extLst>
          </p:cNvPr>
          <p:cNvSpPr/>
          <p:nvPr/>
        </p:nvSpPr>
        <p:spPr>
          <a:xfrm>
            <a:off x="274320" y="5102943"/>
            <a:ext cx="4114800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✓ 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Raspberry Pi + GPS + camera hardware integration</a:t>
            </a: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17114D6E-5E5E-0091-416C-6D40DF14B972}"/>
              </a:ext>
            </a:extLst>
          </p:cNvPr>
          <p:cNvSpPr/>
          <p:nvPr/>
        </p:nvSpPr>
        <p:spPr>
          <a:xfrm>
            <a:off x="274320" y="5397780"/>
            <a:ext cx="4114800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✓ 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Live video streaming to remote server</a:t>
            </a: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F5F1511B-92BE-0E9E-D996-925B007C4E95}"/>
              </a:ext>
            </a:extLst>
          </p:cNvPr>
          <p:cNvSpPr/>
          <p:nvPr/>
        </p:nvSpPr>
        <p:spPr>
          <a:xfrm>
            <a:off x="274320" y="5692617"/>
            <a:ext cx="4114800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✓ 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GPS-tagged violation evidence + SQLite storage</a:t>
            </a: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946004E0-BECB-A90F-6331-96452E58DE95}"/>
              </a:ext>
            </a:extLst>
          </p:cNvPr>
          <p:cNvSpPr/>
          <p:nvPr/>
        </p:nvSpPr>
        <p:spPr>
          <a:xfrm>
            <a:off x="4846320" y="2732783"/>
            <a:ext cx="3926234" cy="337099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Evidence Package on Violation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DB97E7A9-66D0-D8EA-596B-B0A9A0D53DBD}"/>
              </a:ext>
            </a:extLst>
          </p:cNvPr>
          <p:cNvSpPr/>
          <p:nvPr/>
        </p:nvSpPr>
        <p:spPr>
          <a:xfrm>
            <a:off x="4846320" y="3140805"/>
            <a:ext cx="393192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Cropped vehicle photo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1508B1AC-83ED-F67D-93B7-41E628B64ADC}"/>
              </a:ext>
            </a:extLst>
          </p:cNvPr>
          <p:cNvSpPr/>
          <p:nvPr/>
        </p:nvSpPr>
        <p:spPr>
          <a:xfrm>
            <a:off x="4846320" y="3609151"/>
            <a:ext cx="393192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🔤  OCR'd license plate number</a:t>
            </a:r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B9B3E5AB-F711-6F4E-82DE-AB7A09E5F710}"/>
              </a:ext>
            </a:extLst>
          </p:cNvPr>
          <p:cNvSpPr/>
          <p:nvPr/>
        </p:nvSpPr>
        <p:spPr>
          <a:xfrm>
            <a:off x="4846320" y="4077497"/>
            <a:ext cx="393192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coordinates of violation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8A6D3D6B-04BA-036C-2F2F-233E4C85F1F5}"/>
              </a:ext>
            </a:extLst>
          </p:cNvPr>
          <p:cNvSpPr/>
          <p:nvPr/>
        </p:nvSpPr>
        <p:spPr>
          <a:xfrm>
            <a:off x="4846320" y="4545843"/>
            <a:ext cx="393192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Timestamp of detection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B33B97D4-1F7E-D0E3-415A-8837455EB3C8}"/>
              </a:ext>
            </a:extLst>
          </p:cNvPr>
          <p:cNvSpPr/>
          <p:nvPr/>
        </p:nvSpPr>
        <p:spPr>
          <a:xfrm>
            <a:off x="4846320" y="5014189"/>
            <a:ext cx="393192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Confidence score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066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0CFA-1BFA-994F-7109-1DA59FF8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C1D7D8-4A32-0791-C91C-F45B643B3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50" y="659958"/>
            <a:ext cx="7042080" cy="97619"/>
          </a:xfrm>
        </p:spPr>
        <p:txBody>
          <a:bodyPr/>
          <a:lstStyle/>
          <a:p>
            <a:r>
              <a:rPr lang="en-IN"/>
              <a:t> </a:t>
            </a:r>
            <a:r>
              <a:rPr lang="en-IN" i="1"/>
              <a:t>Team contribution and Conclusion </a:t>
            </a:r>
            <a:br>
              <a:rPr lang="en-IN"/>
            </a:br>
            <a:endParaRPr lang="en-IN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BA2DF151-0FDC-00C1-86F9-2136412D8876}"/>
              </a:ext>
            </a:extLst>
          </p:cNvPr>
          <p:cNvSpPr/>
          <p:nvPr/>
        </p:nvSpPr>
        <p:spPr>
          <a:xfrm>
            <a:off x="338328" y="1323833"/>
            <a:ext cx="260604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chemeClr val="bg1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Himanshu</a:t>
            </a:r>
            <a:endParaRPr lang="en-US" sz="160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F877B99-11CD-7210-948B-B994932AFADA}"/>
              </a:ext>
            </a:extLst>
          </p:cNvPr>
          <p:cNvSpPr/>
          <p:nvPr/>
        </p:nvSpPr>
        <p:spPr>
          <a:xfrm>
            <a:off x="338328" y="1650560"/>
            <a:ext cx="2606040" cy="2377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i="1">
                <a:latin typeface="Calibri"/>
                <a:ea typeface="Calibri"/>
                <a:cs typeface="Calibri"/>
              </a:rPr>
              <a:t>Project Lead &amp; CV Core</a:t>
            </a:r>
            <a:endParaRPr lang="en-US" sz="1000" b="1">
              <a:latin typeface="Calibri"/>
              <a:ea typeface="Calibri"/>
              <a:cs typeface="Calibri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340C36C-2AB0-C512-6CB8-DF0A6A4ED822}"/>
              </a:ext>
            </a:extLst>
          </p:cNvPr>
          <p:cNvSpPr/>
          <p:nvPr/>
        </p:nvSpPr>
        <p:spPr>
          <a:xfrm>
            <a:off x="338328" y="1922651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YOLOv8 model training &amp; fine-tuning</a:t>
            </a:r>
            <a:endParaRPr lang="en-US" sz="95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B7905CD-083C-ACDC-B060-1E58FDC57B21}"/>
              </a:ext>
            </a:extLst>
          </p:cNvPr>
          <p:cNvSpPr/>
          <p:nvPr/>
        </p:nvSpPr>
        <p:spPr>
          <a:xfrm>
            <a:off x="338328" y="2215259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Ego-motion compensation (LK optical flow + RANSAC)</a:t>
            </a:r>
            <a:endParaRPr lang="en-US" sz="95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45A0FFB3-FECA-55D7-B99E-A8A818BBD5E6}"/>
              </a:ext>
            </a:extLst>
          </p:cNvPr>
          <p:cNvSpPr/>
          <p:nvPr/>
        </p:nvSpPr>
        <p:spPr>
          <a:xfrm>
            <a:off x="338328" y="2507867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 threshold calibration</a:t>
            </a:r>
            <a:endParaRPr lang="en-US" sz="95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9D16115-7244-C310-A407-F0D1105BDF45}"/>
              </a:ext>
            </a:extLst>
          </p:cNvPr>
          <p:cNvSpPr/>
          <p:nvPr/>
        </p:nvSpPr>
        <p:spPr>
          <a:xfrm>
            <a:off x="338328" y="2800475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system integration</a:t>
            </a:r>
            <a:endParaRPr lang="en-US" sz="95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8C43FC2D-588A-795E-1343-4B6186FCEAE2}"/>
              </a:ext>
            </a:extLst>
          </p:cNvPr>
          <p:cNvSpPr/>
          <p:nvPr/>
        </p:nvSpPr>
        <p:spPr>
          <a:xfrm>
            <a:off x="3282696" y="1323833"/>
            <a:ext cx="260604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chemeClr val="bg1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Harshit</a:t>
            </a:r>
            <a:endParaRPr lang="en-US" sz="130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146AA2F6-EA15-CFF9-DA36-752B04A76C4A}"/>
              </a:ext>
            </a:extLst>
          </p:cNvPr>
          <p:cNvSpPr/>
          <p:nvPr/>
        </p:nvSpPr>
        <p:spPr>
          <a:xfrm>
            <a:off x="3282696" y="1650560"/>
            <a:ext cx="2606040" cy="2377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i="1">
                <a:latin typeface="Calibri"/>
                <a:ea typeface="Calibri"/>
                <a:cs typeface="Calibri"/>
              </a:rPr>
              <a:t>Tracking &amp; State Engine</a:t>
            </a:r>
            <a:endParaRPr lang="en-US" sz="1000" b="1">
              <a:latin typeface="Calibri"/>
              <a:ea typeface="Calibri"/>
              <a:cs typeface="Calibri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6804353C-4876-C6CD-80F5-B712C1F2F944}"/>
              </a:ext>
            </a:extLst>
          </p:cNvPr>
          <p:cNvSpPr/>
          <p:nvPr/>
        </p:nvSpPr>
        <p:spPr>
          <a:xfrm>
            <a:off x="3282696" y="1922651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ByteTrack multi-vehicle tracker integration</a:t>
            </a:r>
            <a:endParaRPr lang="en-US" sz="95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834B5726-66A2-8AC4-9210-E824FB97E0A4}"/>
              </a:ext>
            </a:extLst>
          </p:cNvPr>
          <p:cNvSpPr/>
          <p:nvPr/>
        </p:nvSpPr>
        <p:spPr>
          <a:xfrm>
            <a:off x="3282696" y="2215259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Jitter-resilient EMA centroid smoothing</a:t>
            </a:r>
            <a:endParaRPr lang="en-US" sz="95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88378EEB-2E29-B600-303B-CA70781D1953}"/>
              </a:ext>
            </a:extLst>
          </p:cNvPr>
          <p:cNvSpPr/>
          <p:nvPr/>
        </p:nvSpPr>
        <p:spPr>
          <a:xfrm>
            <a:off x="3282696" y="2507867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Forgiveness frame logic for parking state</a:t>
            </a:r>
            <a:endParaRPr lang="en-US" sz="95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3EEF4B93-4BFA-519E-45AF-DFDDFB838809}"/>
              </a:ext>
            </a:extLst>
          </p:cNvPr>
          <p:cNvSpPr/>
          <p:nvPr/>
        </p:nvSpPr>
        <p:spPr>
          <a:xfrm>
            <a:off x="3282696" y="2800475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performance optimization</a:t>
            </a:r>
            <a:endParaRPr lang="en-US" sz="950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F3631773-6810-608C-0EA7-AF991FBD4504}"/>
              </a:ext>
            </a:extLst>
          </p:cNvPr>
          <p:cNvSpPr/>
          <p:nvPr/>
        </p:nvSpPr>
        <p:spPr>
          <a:xfrm>
            <a:off x="6227064" y="1323833"/>
            <a:ext cx="260604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chemeClr val="bg1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Harshit Singh</a:t>
            </a:r>
            <a:endParaRPr lang="en-US" sz="130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0A77701B-DAE1-7B71-F098-72056543AF35}"/>
              </a:ext>
            </a:extLst>
          </p:cNvPr>
          <p:cNvSpPr/>
          <p:nvPr/>
        </p:nvSpPr>
        <p:spPr>
          <a:xfrm>
            <a:off x="6227064" y="1650560"/>
            <a:ext cx="2606040" cy="2377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i="1">
                <a:latin typeface="Calibri"/>
                <a:ea typeface="Calibri"/>
                <a:cs typeface="Calibri"/>
              </a:rPr>
              <a:t>OCR &amp; Evidence Pipeline</a:t>
            </a:r>
            <a:endParaRPr lang="en-US" sz="1000" b="1">
              <a:latin typeface="Calibri"/>
              <a:ea typeface="Calibri"/>
              <a:cs typeface="Calibri"/>
            </a:endParaRPr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3F621D3C-24CD-F712-98CC-4F510ABAFD6E}"/>
              </a:ext>
            </a:extLst>
          </p:cNvPr>
          <p:cNvSpPr/>
          <p:nvPr/>
        </p:nvSpPr>
        <p:spPr>
          <a:xfrm>
            <a:off x="6227064" y="1922651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CLAHE image enhancement for plates</a:t>
            </a:r>
            <a:endParaRPr lang="en-US" sz="950"/>
          </a:p>
        </p:txBody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5C6FCCAC-8821-4922-C324-F7442EC25F92}"/>
              </a:ext>
            </a:extLst>
          </p:cNvPr>
          <p:cNvSpPr/>
          <p:nvPr/>
        </p:nvSpPr>
        <p:spPr>
          <a:xfrm>
            <a:off x="6227064" y="2215259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EasyOCR + Indian regex validation</a:t>
            </a:r>
            <a:endParaRPr lang="en-US" sz="950"/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B4960AD6-9BE8-A060-4D87-54F284752A7A}"/>
              </a:ext>
            </a:extLst>
          </p:cNvPr>
          <p:cNvSpPr/>
          <p:nvPr/>
        </p:nvSpPr>
        <p:spPr>
          <a:xfrm>
            <a:off x="6227064" y="2507867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Temporal majority voting for plate accuracy</a:t>
            </a:r>
            <a:endParaRPr lang="en-US" sz="950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25C361A7-3F3F-3CAE-17E3-38A9D9380C25}"/>
              </a:ext>
            </a:extLst>
          </p:cNvPr>
          <p:cNvSpPr/>
          <p:nvPr/>
        </p:nvSpPr>
        <p:spPr>
          <a:xfrm>
            <a:off x="6227064" y="2800475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package generation</a:t>
            </a:r>
            <a:endParaRPr lang="en-US" sz="950"/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0AE8D16E-96C8-29E8-BA7A-BF1BBCE379CB}"/>
              </a:ext>
            </a:extLst>
          </p:cNvPr>
          <p:cNvSpPr/>
          <p:nvPr/>
        </p:nvSpPr>
        <p:spPr>
          <a:xfrm>
            <a:off x="338328" y="3408665"/>
            <a:ext cx="260604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chemeClr val="bg1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K. Shubham</a:t>
            </a:r>
            <a:endParaRPr lang="en-US" sz="130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24" name="Text 29">
            <a:extLst>
              <a:ext uri="{FF2B5EF4-FFF2-40B4-BE49-F238E27FC236}">
                <a16:creationId xmlns:a16="http://schemas.microsoft.com/office/drawing/2014/main" id="{57C45B37-4DE8-C4E5-DAB0-8DB055566DE3}"/>
              </a:ext>
            </a:extLst>
          </p:cNvPr>
          <p:cNvSpPr/>
          <p:nvPr/>
        </p:nvSpPr>
        <p:spPr>
          <a:xfrm>
            <a:off x="338328" y="3735392"/>
            <a:ext cx="2606040" cy="2377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i="1">
                <a:latin typeface="Calibri"/>
                <a:ea typeface="Calibri"/>
                <a:cs typeface="Calibri"/>
              </a:rPr>
              <a:t>Hardware &amp; GPS Integration</a:t>
            </a:r>
            <a:endParaRPr lang="en-US" sz="1000" b="1">
              <a:latin typeface="Calibri"/>
              <a:ea typeface="Calibri"/>
              <a:cs typeface="Calibri"/>
            </a:endParaRPr>
          </a:p>
        </p:txBody>
      </p:sp>
      <p:sp>
        <p:nvSpPr>
          <p:cNvPr id="25" name="Text 30">
            <a:extLst>
              <a:ext uri="{FF2B5EF4-FFF2-40B4-BE49-F238E27FC236}">
                <a16:creationId xmlns:a16="http://schemas.microsoft.com/office/drawing/2014/main" id="{F557DA34-B2A4-2A57-924B-3A3D4743E230}"/>
              </a:ext>
            </a:extLst>
          </p:cNvPr>
          <p:cNvSpPr/>
          <p:nvPr/>
        </p:nvSpPr>
        <p:spPr>
          <a:xfrm>
            <a:off x="338328" y="4007483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Raspberry Pi + camera + GPS setup</a:t>
            </a:r>
            <a:endParaRPr lang="en-US" sz="950"/>
          </a:p>
        </p:txBody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7512FA3F-E575-D0DE-6E35-AE0FB1FA492D}"/>
              </a:ext>
            </a:extLst>
          </p:cNvPr>
          <p:cNvSpPr/>
          <p:nvPr/>
        </p:nvSpPr>
        <p:spPr>
          <a:xfrm>
            <a:off x="338328" y="4300091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GPS coordinate timestamping &amp; logging</a:t>
            </a:r>
            <a:endParaRPr lang="en-US" sz="950"/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8AD5D729-A2C4-5D4C-C02D-9544E6F43A0D}"/>
              </a:ext>
            </a:extLst>
          </p:cNvPr>
          <p:cNvSpPr/>
          <p:nvPr/>
        </p:nvSpPr>
        <p:spPr>
          <a:xfrm>
            <a:off x="338328" y="4592699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video streaming to server</a:t>
            </a:r>
            <a:endParaRPr lang="en-US" sz="950"/>
          </a:p>
        </p:txBody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DB5A9E40-3AAB-B29A-297E-F6CBF4BF0DD5}"/>
              </a:ext>
            </a:extLst>
          </p:cNvPr>
          <p:cNvSpPr/>
          <p:nvPr/>
        </p:nvSpPr>
        <p:spPr>
          <a:xfrm>
            <a:off x="338328" y="4885307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GPS-to-violation coordinate mapping</a:t>
            </a:r>
            <a:endParaRPr lang="en-US" sz="950"/>
          </a:p>
        </p:txBody>
      </p:sp>
      <p:sp>
        <p:nvSpPr>
          <p:cNvPr id="29" name="Text 36">
            <a:extLst>
              <a:ext uri="{FF2B5EF4-FFF2-40B4-BE49-F238E27FC236}">
                <a16:creationId xmlns:a16="http://schemas.microsoft.com/office/drawing/2014/main" id="{7FFA4844-987B-464D-58D5-53E773833C9B}"/>
              </a:ext>
            </a:extLst>
          </p:cNvPr>
          <p:cNvSpPr/>
          <p:nvPr/>
        </p:nvSpPr>
        <p:spPr>
          <a:xfrm>
            <a:off x="3282696" y="3408665"/>
            <a:ext cx="260604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chemeClr val="bg1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Kshitiz Singh</a:t>
            </a:r>
            <a:endParaRPr lang="en-US" sz="1300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30" name="Text 37">
            <a:extLst>
              <a:ext uri="{FF2B5EF4-FFF2-40B4-BE49-F238E27FC236}">
                <a16:creationId xmlns:a16="http://schemas.microsoft.com/office/drawing/2014/main" id="{0E6C6A6A-C644-B21D-31DE-19D3A8667D34}"/>
              </a:ext>
            </a:extLst>
          </p:cNvPr>
          <p:cNvSpPr/>
          <p:nvPr/>
        </p:nvSpPr>
        <p:spPr>
          <a:xfrm>
            <a:off x="3282696" y="3735392"/>
            <a:ext cx="2606040" cy="2377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i="1">
                <a:latin typeface="Calibri"/>
                <a:ea typeface="Calibri"/>
                <a:cs typeface="Calibri"/>
              </a:rPr>
              <a:t>Backend &amp; Infrastructure</a:t>
            </a:r>
            <a:endParaRPr lang="en-US" sz="1000" b="1">
              <a:latin typeface="Calibri"/>
              <a:ea typeface="Calibri"/>
              <a:cs typeface="Calibri"/>
            </a:endParaRPr>
          </a:p>
        </p:txBody>
      </p:sp>
      <p:sp>
        <p:nvSpPr>
          <p:cNvPr id="31" name="Text 38">
            <a:extLst>
              <a:ext uri="{FF2B5EF4-FFF2-40B4-BE49-F238E27FC236}">
                <a16:creationId xmlns:a16="http://schemas.microsoft.com/office/drawing/2014/main" id="{088D8CEA-C245-103F-5692-A287E671AA6B}"/>
              </a:ext>
            </a:extLst>
          </p:cNvPr>
          <p:cNvSpPr/>
          <p:nvPr/>
        </p:nvSpPr>
        <p:spPr>
          <a:xfrm>
            <a:off x="3282696" y="4007483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Server-side video processing pipeline</a:t>
            </a:r>
            <a:endParaRPr lang="en-US" sz="950"/>
          </a:p>
        </p:txBody>
      </p:sp>
      <p:sp>
        <p:nvSpPr>
          <p:cNvPr id="32" name="Text 39">
            <a:extLst>
              <a:ext uri="{FF2B5EF4-FFF2-40B4-BE49-F238E27FC236}">
                <a16:creationId xmlns:a16="http://schemas.microsoft.com/office/drawing/2014/main" id="{B88C2F4E-4A01-69B0-1294-B0A0D9382FFB}"/>
              </a:ext>
            </a:extLst>
          </p:cNvPr>
          <p:cNvSpPr/>
          <p:nvPr/>
        </p:nvSpPr>
        <p:spPr>
          <a:xfrm>
            <a:off x="3282696" y="4300091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design for violation records</a:t>
            </a:r>
            <a:endParaRPr lang="en-US" sz="950"/>
          </a:p>
        </p:txBody>
      </p:sp>
      <p:sp>
        <p:nvSpPr>
          <p:cNvPr id="33" name="Text 40">
            <a:extLst>
              <a:ext uri="{FF2B5EF4-FFF2-40B4-BE49-F238E27FC236}">
                <a16:creationId xmlns:a16="http://schemas.microsoft.com/office/drawing/2014/main" id="{4DFB6814-1364-624D-B5C3-72DAFC0143A3}"/>
              </a:ext>
            </a:extLst>
          </p:cNvPr>
          <p:cNvSpPr/>
          <p:nvPr/>
        </p:nvSpPr>
        <p:spPr>
          <a:xfrm>
            <a:off x="3282696" y="4592699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architecture &amp; API design</a:t>
            </a:r>
            <a:endParaRPr lang="en-US" sz="950"/>
          </a:p>
        </p:txBody>
      </p:sp>
      <p:sp>
        <p:nvSpPr>
          <p:cNvPr id="34" name="Text 41">
            <a:extLst>
              <a:ext uri="{FF2B5EF4-FFF2-40B4-BE49-F238E27FC236}">
                <a16:creationId xmlns:a16="http://schemas.microsoft.com/office/drawing/2014/main" id="{5A40DB96-DD7E-1C48-657B-FFB751716775}"/>
              </a:ext>
            </a:extLst>
          </p:cNvPr>
          <p:cNvSpPr/>
          <p:nvPr/>
        </p:nvSpPr>
        <p:spPr>
          <a:xfrm>
            <a:off x="3282696" y="4885307"/>
            <a:ext cx="2606040" cy="265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Testing, QA &amp; documentation</a:t>
            </a:r>
            <a:endParaRPr lang="en-US" sz="950"/>
          </a:p>
        </p:txBody>
      </p:sp>
      <p:sp>
        <p:nvSpPr>
          <p:cNvPr id="35" name="Text 43">
            <a:extLst>
              <a:ext uri="{FF2B5EF4-FFF2-40B4-BE49-F238E27FC236}">
                <a16:creationId xmlns:a16="http://schemas.microsoft.com/office/drawing/2014/main" id="{31684805-E8D1-8CAD-656E-FFC1FD4149D0}"/>
              </a:ext>
            </a:extLst>
          </p:cNvPr>
          <p:cNvSpPr/>
          <p:nvPr/>
        </p:nvSpPr>
        <p:spPr>
          <a:xfrm>
            <a:off x="320040" y="5991448"/>
            <a:ext cx="85039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i="1">
                <a:latin typeface="Calibri"/>
                <a:ea typeface="Calibri"/>
                <a:cs typeface="Calibri"/>
              </a:rPr>
              <a:t>"From a computer vision prototype to a fully deployed GPS-integrated mobile enforcement system — built end-to-end at IIT Roorkee."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671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D68792-4CD0-583B-ECB9-DD2D8DDDF44B}"/>
              </a:ext>
            </a:extLst>
          </p:cNvPr>
          <p:cNvSpPr txBox="1"/>
          <p:nvPr/>
        </p:nvSpPr>
        <p:spPr bwMode="auto">
          <a:xfrm>
            <a:off x="180654" y="202990"/>
            <a:ext cx="7042080" cy="554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3200" b="1" i="1">
                <a:latin typeface="+mj-lt"/>
                <a:ea typeface="+mj-ea"/>
                <a:cs typeface="+mj-cs"/>
              </a:rPr>
              <a:t>Thank you !!</a:t>
            </a:r>
          </a:p>
        </p:txBody>
      </p:sp>
      <p:pic>
        <p:nvPicPr>
          <p:cNvPr id="3" name="Picture 2" descr="A group of men sitting at a desk with computers&#10;&#10;AI-generated content may be incorrect.">
            <a:extLst>
              <a:ext uri="{FF2B5EF4-FFF2-40B4-BE49-F238E27FC236}">
                <a16:creationId xmlns:a16="http://schemas.microsoft.com/office/drawing/2014/main" id="{365467B9-13A3-2972-DEB4-1C510660C5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73" r="-2" b="1992"/>
          <a:stretch>
            <a:fillRect/>
          </a:stretch>
        </p:blipFill>
        <p:spPr>
          <a:xfrm>
            <a:off x="180653" y="1173984"/>
            <a:ext cx="8768137" cy="52232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RTIPVD</Template>
  <Application>Microsoft Office PowerPoint</Application>
  <PresentationFormat>On-screen Show (4:3)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IITR_PPT_Template</vt:lpstr>
      <vt:lpstr>Real-Time Illegally Parked Vehicle Detection (RTIPVD)</vt:lpstr>
      <vt:lpstr>Problem and our contribution</vt:lpstr>
      <vt:lpstr> System Architecture </vt:lpstr>
      <vt:lpstr>Novelty – What Sets RTIPVD Apart</vt:lpstr>
      <vt:lpstr>Results and deliverables </vt:lpstr>
      <vt:lpstr> Team contribution and Conclusion  </vt:lpstr>
      <vt:lpstr>PowerPoint Presentation</vt:lpstr>
    </vt:vector>
  </TitlesOfParts>
  <Manager>Dr. Sudip Roy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IITR PPT Template</dc:subject>
  <dc:creator>Kshitiz Singh</dc:creator>
  <cp:revision>18</cp:revision>
  <dcterms:created xsi:type="dcterms:W3CDTF">2026-04-14T04:57:56Z</dcterms:created>
  <dcterms:modified xsi:type="dcterms:W3CDTF">2026-04-24T19:46:46Z</dcterms:modified>
</cp:coreProperties>
</file>